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64FFDA"/>
                </a:solidFill>
              </a:defRPr>
            </a:pPr>
            <a:r>
              <a:t>Disease Outbreak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8892B0"/>
                </a:solidFill>
              </a:defRPr>
            </a:pPr>
            <a:r>
              <a:t>A Data-Driven Approach for Early Warning &amp; Response</a:t>
            </a:r>
            <a:br/>
            <a:r>
              <a:t>Project: DODUDMADW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64FFDA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600"/>
              </a:spcAft>
              <a:defRPr sz="2400" b="1">
                <a:solidFill>
                  <a:srgbClr val="E6F1FF"/>
                </a:solidFill>
                <a:latin typeface="Segoe UI"/>
              </a:defRPr>
            </a:pPr>
            <a:r>
              <a:t>System Overview:</a:t>
            </a:r>
          </a:p>
          <a:p>
            <a:pPr lvl="1">
              <a:spcAft>
                <a:spcPts val="10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 Real-time surveillance.</a:t>
            </a:r>
          </a:p>
          <a:p>
            <a:pPr lvl="1">
              <a:spcAft>
                <a:spcPts val="10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 Centralized warehouse.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E6F1FF"/>
                </a:solidFill>
                <a:latin typeface="Segoe UI"/>
              </a:defRPr>
            </a:pPr>
            <a:r>
              <a:t>Core Capabilities:</a:t>
            </a:r>
          </a:p>
          <a:p>
            <a:pPr lvl="1">
              <a:spcAft>
                <a:spcPts val="10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 Spatio-temporal cluster detection.</a:t>
            </a:r>
          </a:p>
          <a:p>
            <a:pPr lvl="1">
              <a:spcAft>
                <a:spcPts val="10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 Public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64FFDA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600"/>
              </a:spcAft>
              <a:defRPr sz="2400" b="1">
                <a:solidFill>
                  <a:srgbClr val="E6F1FF"/>
                </a:solidFill>
                <a:latin typeface="Segoe UI"/>
              </a:defRPr>
            </a:pPr>
            <a:r>
              <a:t>1. Ingestion: Secure REST API.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E6F1FF"/>
                </a:solidFill>
                <a:latin typeface="Segoe UI"/>
              </a:defRPr>
            </a:pPr>
            <a:r>
              <a:t>2. Warehousing: SQLite Store.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E6F1FF"/>
                </a:solidFill>
                <a:latin typeface="Segoe UI"/>
              </a:defRPr>
            </a:pPr>
            <a:r>
              <a:t>3. Mining: Custom Clustering.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E6F1FF"/>
                </a:solidFill>
                <a:latin typeface="Segoe UI"/>
              </a:defRPr>
            </a:pPr>
            <a:r>
              <a:t>4. Visualization: Next.js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64FFDA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spcAft>
                <a:spcPts val="600"/>
              </a:spcAft>
              <a:defRPr sz="2400" b="1">
                <a:solidFill>
                  <a:srgbClr val="E6F1FF"/>
                </a:solidFill>
                <a:latin typeface="Segoe UI"/>
              </a:defRPr>
            </a:pPr>
            <a:r>
              <a:t>Summary:</a:t>
            </a:r>
          </a:p>
          <a:p>
            <a:pPr lvl="1">
              <a:spcAft>
                <a:spcPts val="10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 Functional prototype implemented.</a:t>
            </a:r>
          </a:p>
          <a:p>
            <a:pPr lvl="1">
              <a:spcAft>
                <a:spcPts val="10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 Actionable insights for officials.</a:t>
            </a:r>
          </a:p>
          <a:p>
            <a:pPr lvl="1">
              <a:spcAft>
                <a:spcPts val="1000"/>
              </a:spcAft>
              <a:defRPr sz="1800">
                <a:solidFill>
                  <a:srgbClr val="E6F1FF"/>
                </a:solidFill>
                <a:latin typeface="Segoe UI"/>
              </a:defRPr>
            </a:pPr>
            <a:r>
              <a:t> Scalable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