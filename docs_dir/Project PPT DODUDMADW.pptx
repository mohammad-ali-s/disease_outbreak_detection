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3" r:id="rId6"/>
    <p:sldId id="262" r:id="rId7"/>
    <p:sldId id="264" r:id="rId8"/>
    <p:sldId id="266" r:id="rId9"/>
    <p:sldId id="267" r:id="rId10"/>
    <p:sldId id="269" r:id="rId11"/>
    <p:sldId id="270" r:id="rId12"/>
    <p:sldId id="273" r:id="rId13"/>
    <p:sldId id="265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025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54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8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322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24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527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98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445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77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193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3100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425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036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630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555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684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E77FCD1-9B21-42D2-8A32-C6794E0CB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2C3A9-2BB2-4F94-BFA6-E2A2AD04D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7268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691D8FB-1024-4128-9726-41B9F10E6CC7}"/>
              </a:ext>
            </a:extLst>
          </p:cNvPr>
          <p:cNvSpPr txBox="1">
            <a:spLocks/>
          </p:cNvSpPr>
          <p:nvPr/>
        </p:nvSpPr>
        <p:spPr>
          <a:xfrm>
            <a:off x="643460" y="1941921"/>
            <a:ext cx="10555878" cy="2449333"/>
          </a:xfrm>
          <a:prstGeom prst="rect">
            <a:avLst/>
          </a:prstGeom>
        </p:spPr>
        <p:txBody>
          <a:bodyPr vert="horz" lIns="92162" tIns="46076" rIns="92162" bIns="46076" rtlCol="0" anchor="ctr" anchorCtr="1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dirty="0">
                <a:effectLst>
                  <a:outerShdw dist="17962" dir="2700000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                                            </a:t>
            </a:r>
            <a:r>
              <a:rPr lang="en-US" sz="2200" b="1" dirty="0">
                <a:effectLst>
                  <a:outerShdw dist="17962" dir="2700000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Department of Computer Engineering</a:t>
            </a:r>
          </a:p>
          <a:p>
            <a:endParaRPr lang="en-US" sz="2200" b="1" dirty="0">
              <a:effectLst>
                <a:outerShdw dist="17962" dir="2700000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>
                <a:effectLst>
                  <a:outerShdw dist="17962" dir="2700000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                                                         A Project Presentation </a:t>
            </a:r>
          </a:p>
          <a:p>
            <a:r>
              <a:rPr lang="en-US" sz="2200" b="1" dirty="0">
                <a:effectLst>
                  <a:outerShdw dist="17962" dir="2700000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on</a:t>
            </a:r>
            <a:r>
              <a:rPr lang="en-US" sz="2200" b="1" dirty="0">
                <a:solidFill>
                  <a:srgbClr val="FFFF00"/>
                </a:solidFill>
                <a:effectLst>
                  <a:outerShdw dist="17962" dir="2700000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b="1" dirty="0">
                <a:solidFill>
                  <a:srgbClr val="FFFF00"/>
                </a:solidFill>
                <a:effectLst>
                  <a:outerShdw dist="17962" dir="2700000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FFFF00"/>
                </a:solidFill>
                <a:effectLst>
                  <a:outerShdw dist="17962" dir="2700000">
                    <a:srgbClr val="000000"/>
                  </a:outerShdw>
                </a:effectLst>
                <a:latin typeface="Arial Narrow" pitchFamily="34"/>
              </a:rPr>
              <a:t/>
            </a:r>
            <a:br>
              <a:rPr lang="en-US" sz="2800" b="1" dirty="0">
                <a:solidFill>
                  <a:srgbClr val="FFFF00"/>
                </a:solidFill>
                <a:effectLst>
                  <a:outerShdw dist="17962" dir="2700000">
                    <a:srgbClr val="000000"/>
                  </a:outerShdw>
                </a:effectLst>
                <a:latin typeface="Arial Narrow" pitchFamily="34"/>
              </a:rPr>
            </a:br>
            <a:r>
              <a:rPr lang="en-US" sz="2800" b="1" dirty="0">
                <a:solidFill>
                  <a:srgbClr val="FFFF00"/>
                </a:solidFill>
                <a:effectLst>
                  <a:outerShdw dist="17962" dir="2700000">
                    <a:srgbClr val="000000"/>
                  </a:outerShdw>
                </a:effectLst>
                <a:latin typeface="Arial Narrow" pitchFamily="34"/>
              </a:rPr>
              <a:t>                     </a:t>
            </a:r>
            <a:r>
              <a:rPr lang="en-US" dirty="0"/>
              <a:t>Disease Outbreak Detection</a:t>
            </a:r>
          </a:p>
          <a:p>
            <a:r>
              <a:rPr lang="en-US" dirty="0"/>
              <a:t> using Data Mining &amp; Data Warehousing    </a:t>
            </a:r>
            <a:endParaRPr lang="en-US" sz="2800" b="1" dirty="0">
              <a:solidFill>
                <a:srgbClr val="FFFF0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E48484-D34A-45E5-8D12-2A4501B57E89}"/>
              </a:ext>
            </a:extLst>
          </p:cNvPr>
          <p:cNvSpPr/>
          <p:nvPr/>
        </p:nvSpPr>
        <p:spPr>
          <a:xfrm>
            <a:off x="643460" y="4527934"/>
            <a:ext cx="4624723" cy="136850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0" compatLnSpc="1"/>
          <a:lstStyle/>
          <a:p>
            <a:pPr hangingPunct="0"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itchFamily="18" charset="0"/>
                <a:ea typeface="WenQuanYi Zen Hei Sharp" pitchFamily="2"/>
                <a:cs typeface="Times New Roman" pitchFamily="18" charset="0"/>
              </a:rPr>
              <a:t>Guided by:</a:t>
            </a:r>
          </a:p>
          <a:p>
            <a:pPr hangingPunct="0"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itchFamily="18" charset="0"/>
                <a:ea typeface="WenQuanYi Zen Hei Sharp" pitchFamily="2"/>
                <a:cs typeface="Times New Roman" pitchFamily="18" charset="0"/>
              </a:rPr>
              <a:t>Prof. Shubhangiv Ingale</a:t>
            </a:r>
            <a:endParaRPr lang="en-US" sz="2400" b="1" dirty="0">
              <a:solidFill>
                <a:schemeClr val="accent2">
                  <a:lumMod val="20000"/>
                  <a:lumOff val="80000"/>
                </a:schemeClr>
              </a:solidFill>
              <a:latin typeface="Arial" pitchFamily="34"/>
              <a:ea typeface="WenQuanYi Zen Hei Sharp" pitchFamily="2"/>
              <a:cs typeface="Lohit Devanagari" pitchFamily="2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F240FB5-C045-4AC3-9AA6-1688634A3BBB}"/>
              </a:ext>
            </a:extLst>
          </p:cNvPr>
          <p:cNvSpPr/>
          <p:nvPr/>
        </p:nvSpPr>
        <p:spPr>
          <a:xfrm>
            <a:off x="6923819" y="4391255"/>
            <a:ext cx="4975379" cy="2273496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0" compatLnSpc="1"/>
          <a:lstStyle/>
          <a:p>
            <a:pPr hangingPunct="0"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WenQuanYi Zen Hei Sharp" pitchFamily="2"/>
                <a:cs typeface="Times New Roman" pitchFamily="18" charset="0"/>
              </a:rPr>
              <a:t>Presented by :</a:t>
            </a:r>
          </a:p>
          <a:p>
            <a:pPr hangingPunct="0"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WenQuanYi Zen Hei Sharp" pitchFamily="2"/>
                <a:cs typeface="Times New Roman" pitchFamily="18" charset="0"/>
              </a:rPr>
              <a:t>Atul Lahase</a:t>
            </a:r>
          </a:p>
          <a:p>
            <a:pPr hangingPunct="0"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WenQuanYi Zen Hei Sharp" pitchFamily="2"/>
                <a:cs typeface="Times New Roman" pitchFamily="18" charset="0"/>
              </a:rPr>
              <a:t>Sharvan Singh Rajpurohit</a:t>
            </a:r>
          </a:p>
          <a:p>
            <a:pPr hangingPunct="0"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WenQuanYi Zen Hei Sharp" pitchFamily="2"/>
                <a:cs typeface="Times New Roman" pitchFamily="18" charset="0"/>
              </a:rPr>
              <a:t>Mohammad </a:t>
            </a: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WenQuanYi Zen Hei Sharp" pitchFamily="2"/>
                <a:cs typeface="Times New Roman" pitchFamily="18" charset="0"/>
              </a:rPr>
              <a:t>Ali </a:t>
            </a:r>
            <a:r>
              <a:rPr lang="en-US" sz="24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WenQuanYi Zen Hei Sharp" pitchFamily="2"/>
                <a:cs typeface="Times New Roman" pitchFamily="18" charset="0"/>
              </a:rPr>
              <a:t>Shaikh</a:t>
            </a:r>
            <a:endParaRPr lang="en-US" sz="2400" b="1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itchFamily="18" charset="0"/>
              <a:ea typeface="WenQuanYi Zen Hei Sharp" pitchFamily="2"/>
              <a:cs typeface="Times New Roman" pitchFamily="18" charset="0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72" y="299766"/>
            <a:ext cx="10715706" cy="1276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89213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2D2C53-02EC-705D-A211-5502ABC26B9F}"/>
              </a:ext>
            </a:extLst>
          </p:cNvPr>
          <p:cNvSpPr txBox="1"/>
          <p:nvPr/>
        </p:nvSpPr>
        <p:spPr>
          <a:xfrm>
            <a:off x="540470" y="1574277"/>
            <a:ext cx="111110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proactive surveillance system designed to detect disease outbreaks in real-time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Integrates patient data from multiple hospitals into a central warehouse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Utilizes advanced data mining to identify </a:t>
            </a:r>
            <a:r>
              <a:rPr lang="en-US" sz="2400" dirty="0" err="1"/>
              <a:t>spatio</a:t>
            </a:r>
            <a:r>
              <a:rPr lang="en-US" sz="2400" dirty="0"/>
              <a:t>-temporal </a:t>
            </a:r>
            <a:r>
              <a:rPr lang="en-US" sz="2400" dirty="0" smtClean="0"/>
              <a:t>clusters.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Provides a Public Dashboard for transparency and an Admin Portal for hospital management.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05399F-E5D5-6DBD-9C2A-96C547D75E7B}"/>
              </a:ext>
            </a:extLst>
          </p:cNvPr>
          <p:cNvSpPr txBox="1"/>
          <p:nvPr/>
        </p:nvSpPr>
        <p:spPr>
          <a:xfrm>
            <a:off x="1385740" y="575035"/>
            <a:ext cx="92194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266543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3ADCD-BFD7-81C5-ABCD-ACF8E206E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b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STATEMENT</a:t>
            </a:r>
            <a:endParaRPr lang="en-IN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89C422-6496-DBE2-CA58-BF0753A4435E}"/>
              </a:ext>
            </a:extLst>
          </p:cNvPr>
          <p:cNvSpPr txBox="1"/>
          <p:nvPr/>
        </p:nvSpPr>
        <p:spPr>
          <a:xfrm>
            <a:off x="548791" y="1325644"/>
            <a:ext cx="1071827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Traditional surveillance is reactive, relying on manual reporting.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Significant time lag between outbreak onset and detection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Lack of unified data standards across hospitals (Data Integration challenge</a:t>
            </a:r>
            <a:r>
              <a:rPr lang="en-US" sz="2800" dirty="0" smtClean="0"/>
              <a:t>).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Existing systems often lack predictive capabilities for spread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26893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6920C-D04A-4B2E-4748-CC40EC2A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2193"/>
          </a:xfrm>
        </p:spPr>
        <p:txBody>
          <a:bodyPr/>
          <a:lstStyle/>
          <a:p>
            <a:pPr algn="ctr"/>
            <a:r>
              <a:rPr lang="en-IN" sz="4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B6747-A150-6996-C875-8A9656C962E4}"/>
              </a:ext>
            </a:extLst>
          </p:cNvPr>
          <p:cNvSpPr txBox="1"/>
          <p:nvPr/>
        </p:nvSpPr>
        <p:spPr>
          <a:xfrm>
            <a:off x="840556" y="1473901"/>
            <a:ext cx="10510887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Increasing population density, globalization, and climate change have heightened the risk of rapid disease outbreaks.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Traditional outbreak detection methods are slow, resource-intensive, and often fail to identify hidden patterns.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Data mining and data warehousing enable early detection and accurate prediction, improving preparedness and response.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A data-driven system can save lives, reduce economic losses, and support healthcare authorities with timely decision-making</a:t>
            </a:r>
          </a:p>
          <a:p>
            <a:pPr algn="just"/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98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53F80F-7E69-63C7-118E-EA5E3D385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88004"/>
              </p:ext>
            </p:extLst>
          </p:nvPr>
        </p:nvGraphicFramePr>
        <p:xfrm>
          <a:off x="264858" y="1171769"/>
          <a:ext cx="11661756" cy="558135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65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1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1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766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58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and Author’s  Name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&amp;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year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7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dirty="0">
                          <a:latin typeface="Century Gothic (Body)"/>
                          <a:cs typeface="Times New Roman" panose="02020603050405020304" pitchFamily="18" charset="0"/>
                        </a:rPr>
                        <a:t>A Smart Early Warning System for Disease Outbreak with a Case Study of COVID-19 in India – T. </a:t>
                      </a:r>
                      <a:r>
                        <a:rPr lang="en-US" sz="1400" i="0" dirty="0" err="1">
                          <a:latin typeface="Century Gothic (Body)"/>
                          <a:cs typeface="Times New Roman" panose="02020603050405020304" pitchFamily="18" charset="0"/>
                        </a:rPr>
                        <a:t>Kelhe</a:t>
                      </a:r>
                      <a:r>
                        <a:rPr lang="en-US" sz="1400" i="0" dirty="0">
                          <a:latin typeface="Century Gothic (Body)"/>
                          <a:cs typeface="Times New Roman" panose="02020603050405020304" pitchFamily="18" charset="0"/>
                        </a:rPr>
                        <a:t> </a:t>
                      </a:r>
                      <a:endParaRPr lang="en-US" sz="140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dirty="0">
                          <a:latin typeface="Century Gothic (Body)"/>
                          <a:cs typeface="Times New Roman" panose="02020603050405020304" pitchFamily="18" charset="0"/>
                        </a:rPr>
                        <a:t>IEEE </a:t>
                      </a:r>
                      <a:r>
                        <a:rPr lang="en-IN" sz="1400" dirty="0" err="1">
                          <a:latin typeface="Century Gothic (Body)"/>
                          <a:cs typeface="Times New Roman" panose="02020603050405020304" pitchFamily="18" charset="0"/>
                        </a:rPr>
                        <a:t>PuneCon</a:t>
                      </a:r>
                      <a:r>
                        <a:rPr lang="en-IN" sz="1400" dirty="0">
                          <a:latin typeface="Century Gothic (Body)"/>
                          <a:cs typeface="Times New Roman" panose="02020603050405020304" pitchFamily="18" charset="0"/>
                        </a:rPr>
                        <a:t>, 2020</a:t>
                      </a:r>
                      <a:endParaRPr lang="en-US" sz="140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Century Gothic (Body)"/>
                          <a:cs typeface="Times New Roman" panose="02020603050405020304" pitchFamily="18" charset="0"/>
                        </a:rPr>
                        <a:t>Proposed a circular system involving govt., healthcare, and citizens using IoT + Cloud for outbreak prediction. Validated with COVID-19 data in India.</a:t>
                      </a:r>
                      <a:r>
                        <a:rPr lang="en-IN" sz="1400" dirty="0">
                          <a:latin typeface="Century Gothic (Body)"/>
                          <a:cs typeface="Times New Roman" panose="02020603050405020304" pitchFamily="18" charset="0"/>
                        </a:rPr>
                        <a:t>Used eye-gaze tracking via browser plug-ins to detect abnormal screen attention patterns during online exams. Machine learning (one-class SVM) flagged suspicious </a:t>
                      </a:r>
                      <a:r>
                        <a:rPr lang="en-IN" sz="1400" dirty="0" err="1">
                          <a:latin typeface="Century Gothic (Body)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IN" sz="1400" dirty="0">
                          <a:latin typeface="Century Gothic (Body)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entury Gothic (Body)"/>
                          <a:cs typeface="Times New Roman" panose="02020603050405020304" pitchFamily="18" charset="0"/>
                        </a:rPr>
                        <a:t>Data integration complexity, requirement of real-time participation, risk of misinformation and panic.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7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i="1" dirty="0" err="1">
                          <a:latin typeface="Century Gothic (Body)"/>
                          <a:cs typeface="Times New Roman" panose="02020603050405020304" pitchFamily="18" charset="0"/>
                        </a:rPr>
                        <a:t>SeTracking</a:t>
                      </a:r>
                      <a:r>
                        <a:rPr lang="en-US" sz="1400" i="1" dirty="0">
                          <a:latin typeface="Century Gothic (Body)"/>
                          <a:cs typeface="Times New Roman" panose="02020603050405020304" pitchFamily="18" charset="0"/>
                        </a:rPr>
                        <a:t> Disease: Digital Epidemiology Offers New Promise in Predicting Outbreaks – Mary </a:t>
                      </a:r>
                      <a:r>
                        <a:rPr lang="en-US" sz="1400" i="1" dirty="0" err="1">
                          <a:latin typeface="Century Gothic (Body)"/>
                          <a:cs typeface="Times New Roman" panose="02020603050405020304" pitchFamily="18" charset="0"/>
                        </a:rPr>
                        <a:t>Batescure</a:t>
                      </a:r>
                      <a:r>
                        <a:rPr lang="en-US" sz="1400" i="1" dirty="0">
                          <a:latin typeface="Century Gothic (Body)"/>
                          <a:cs typeface="Times New Roman" panose="02020603050405020304" pitchFamily="18" charset="0"/>
                        </a:rPr>
                        <a:t> Face Unlock: Spoof Detection on Smartphones:</a:t>
                      </a:r>
                    </a:p>
                    <a:p>
                      <a:pPr algn="just"/>
                      <a:r>
                        <a:rPr lang="en-IN" sz="1400" dirty="0">
                          <a:latin typeface="Century Gothic (Body)"/>
                          <a:cs typeface="Times New Roman" panose="02020603050405020304" pitchFamily="18" charset="0"/>
                        </a:rPr>
                        <a:t>K. Patel, H. Han, A. K. Jain</a:t>
                      </a:r>
                      <a:endParaRPr lang="en-US" sz="140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Century Gothic (Body)"/>
                          <a:cs typeface="Times New Roman" panose="02020603050405020304" pitchFamily="18" charset="0"/>
                        </a:rPr>
                        <a:t>IEEE Pulse, 2017</a:t>
                      </a:r>
                      <a:endParaRPr lang="en-US" sz="140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Century Gothic (Body)"/>
                          <a:cs typeface="Times New Roman" panose="02020603050405020304" pitchFamily="18" charset="0"/>
                        </a:rPr>
                        <a:t>Discussed use of mobile phone data, web searches, and social media (Twitter, Google Flu Trends, HealthMap) for near real-time outbreak tracking.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Century Gothic (Body)"/>
                          <a:cs typeface="Times New Roman" panose="02020603050405020304" pitchFamily="18" charset="0"/>
                        </a:rPr>
                        <a:t>Data privacy concerns, noisy/unreliable social media data, urban–rural digital divide</a:t>
                      </a:r>
                      <a:endParaRPr lang="en-US" sz="1400" baseline="0" dirty="0">
                        <a:solidFill>
                          <a:schemeClr val="tx1"/>
                        </a:solidFill>
                        <a:latin typeface="Century Gothic (Body)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EDC764D-B09D-B489-85E3-FE89506BF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2" y="104876"/>
            <a:ext cx="5907536" cy="10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13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74905-9398-1ABB-D286-9161F2A10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17" y="204871"/>
            <a:ext cx="10515600" cy="728384"/>
          </a:xfrm>
        </p:spPr>
        <p:txBody>
          <a:bodyPr/>
          <a:lstStyle/>
          <a:p>
            <a:pPr algn="ctr"/>
            <a:r>
              <a:rPr lang="en-IN" sz="4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E2D835-9D7D-C467-89CB-4BC9BCD85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2117"/>
              </p:ext>
            </p:extLst>
          </p:nvPr>
        </p:nvGraphicFramePr>
        <p:xfrm>
          <a:off x="264858" y="1086927"/>
          <a:ext cx="11662283" cy="577107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38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1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3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2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and Author’s  Name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&amp;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year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238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Century Gothic (Body)"/>
                          <a:cs typeface="Times New Roman" panose="02020603050405020304" pitchFamily="18" charset="0"/>
                        </a:rPr>
                        <a:t>Data Mining Techniques for Disease Outbreak Detection A. Kumar, R. Singh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b="0" dirty="0">
                          <a:latin typeface="Century Gothic (Body)"/>
                          <a:cs typeface="Times New Roman" panose="02020603050405020304" pitchFamily="18" charset="0"/>
                        </a:rPr>
                        <a:t> July 2019</a:t>
                      </a:r>
                      <a:endParaRPr lang="en-US" sz="1400" b="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dirty="0">
                          <a:latin typeface="Century Gothic (Body)"/>
                        </a:rPr>
                        <a:t>Proposed the use of classification and clustering algorithms on healthcare data to identify early outbreak signals. Demonstrated improved detection accuracy compared to manual monitoring.</a:t>
                      </a:r>
                      <a:endParaRPr lang="en-US" sz="1400" b="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dirty="0">
                          <a:latin typeface="Century Gothic (Body)"/>
                          <a:cs typeface="Times New Roman" panose="02020603050405020304" pitchFamily="18" charset="0"/>
                        </a:rPr>
                        <a:t>Li</a:t>
                      </a:r>
                      <a:r>
                        <a:rPr lang="en-US" sz="1400" b="0" dirty="0">
                          <a:latin typeface="Century Gothic (Body)"/>
                        </a:rPr>
                        <a:t>mited scalability with large datasets, difficulty in handling missing/incomplete health records.</a:t>
                      </a:r>
                      <a:endParaRPr lang="en-US" sz="1400" b="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6605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dirty="0">
                          <a:latin typeface="Century Gothic (Body)"/>
                          <a:cs typeface="Times New Roman" panose="02020603050405020304" pitchFamily="18" charset="0"/>
                        </a:rPr>
                        <a:t>Data Warehousing in Public Health Decision </a:t>
                      </a:r>
                      <a:r>
                        <a:rPr lang="en-US" sz="1400" b="0" dirty="0" err="1">
                          <a:latin typeface="Century Gothic (Body)"/>
                          <a:cs typeface="Times New Roman" panose="02020603050405020304" pitchFamily="18" charset="0"/>
                        </a:rPr>
                        <a:t>SupportJ</a:t>
                      </a:r>
                      <a:r>
                        <a:rPr lang="en-US" sz="1400" b="0" dirty="0">
                          <a:latin typeface="Century Gothic (Body)"/>
                          <a:cs typeface="Times New Roman" panose="02020603050405020304" pitchFamily="18" charset="0"/>
                        </a:rPr>
                        <a:t>. Ramesh, K.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dirty="0">
                          <a:latin typeface="Century Gothic (Body)"/>
                          <a:cs typeface="Times New Roman" panose="02020603050405020304" pitchFamily="18" charset="0"/>
                        </a:rPr>
                        <a:t>June, 2020</a:t>
                      </a:r>
                      <a:endParaRPr lang="en-US" sz="1400" b="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dirty="0">
                          <a:latin typeface="Century Gothic (Body)"/>
                          <a:cs typeface="Times New Roman" panose="02020603050405020304" pitchFamily="18" charset="0"/>
                        </a:rPr>
                        <a:t>Developed a health data warehouse integrating hospital, demographic, and environmental datasets. Enabled faster query processing and trend analysis for epidemic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dirty="0">
                          <a:latin typeface="Century Gothic (Body)"/>
                          <a:cs typeface="Times New Roman" panose="02020603050405020304" pitchFamily="18" charset="0"/>
                        </a:rPr>
                        <a:t>High storage requirements, data integration complexity, and need for continuous updates for real-time use..</a:t>
                      </a:r>
                      <a:endParaRPr lang="en-US" sz="1400" b="0" baseline="0" dirty="0">
                        <a:solidFill>
                          <a:schemeClr val="tx1"/>
                        </a:solidFill>
                        <a:latin typeface="Century Gothic (Body)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6015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D72D3A-2654-2B7C-A9E1-AD36F0A4A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733138"/>
              </p:ext>
            </p:extLst>
          </p:nvPr>
        </p:nvGraphicFramePr>
        <p:xfrm>
          <a:off x="264858" y="1341451"/>
          <a:ext cx="11662283" cy="521893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40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1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3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2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and Author’s  Name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&amp;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year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0243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Century Gothic (Body)"/>
                        </a:rPr>
                        <a:t>Unsupervised Anomaly Detection in Multivariate </a:t>
                      </a:r>
                      <a:r>
                        <a:rPr lang="en-US" sz="1400" b="0" dirty="0" err="1">
                          <a:latin typeface="Century Gothic (Body)"/>
                        </a:rPr>
                        <a:t>Spatio</a:t>
                      </a:r>
                      <a:r>
                        <a:rPr lang="en-US" sz="1400" b="0" dirty="0">
                          <a:latin typeface="Century Gothic (Body)"/>
                        </a:rPr>
                        <a:t>-Temporal Data Using Deep Learning... – Y. </a:t>
                      </a:r>
                      <a:r>
                        <a:rPr lang="en-US" sz="1400" b="0" dirty="0" err="1">
                          <a:latin typeface="Century Gothic (Body)"/>
                        </a:rPr>
                        <a:t>Karadayi</a:t>
                      </a:r>
                      <a:r>
                        <a:rPr lang="en-US" sz="1400" b="0" dirty="0">
                          <a:latin typeface="Century Gothic (Body)"/>
                        </a:rPr>
                        <a:t>.</a:t>
                      </a:r>
                      <a:endParaRPr lang="en-US" sz="1400" b="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dirty="0">
                          <a:latin typeface="Century Gothic (Body)"/>
                        </a:rPr>
                        <a:t>IEEE Access, 2020</a:t>
                      </a:r>
                      <a:endParaRPr lang="en-US" sz="1400" b="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dirty="0">
                          <a:latin typeface="Century Gothic (Body)"/>
                        </a:rPr>
                        <a:t>Proposed a hybrid deep learning framework (3D CNN + </a:t>
                      </a:r>
                      <a:r>
                        <a:rPr lang="en-US" sz="1400" b="0" dirty="0" err="1">
                          <a:latin typeface="Century Gothic (Body)"/>
                        </a:rPr>
                        <a:t>ConvLSTM</a:t>
                      </a:r>
                      <a:r>
                        <a:rPr lang="en-US" sz="1400" b="0" dirty="0">
                          <a:latin typeface="Century Gothic (Body)"/>
                        </a:rPr>
                        <a:t> autoencoder) for unsupervised anomaly detection in </a:t>
                      </a:r>
                      <a:r>
                        <a:rPr lang="en-US" sz="1400" b="0" dirty="0" err="1">
                          <a:latin typeface="Century Gothic (Body)"/>
                        </a:rPr>
                        <a:t>spatio</a:t>
                      </a:r>
                      <a:r>
                        <a:rPr lang="en-US" sz="1400" b="0" dirty="0">
                          <a:latin typeface="Century Gothic (Body)"/>
                        </a:rPr>
                        <a:t>-temporal data, using Italian COVID-19 data as a case study</a:t>
                      </a:r>
                      <a:endParaRPr lang="en-US" sz="1400" b="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Century Gothic (Body)"/>
                        </a:rPr>
                        <a:t>unsupervised anomaly detection in </a:t>
                      </a:r>
                      <a:r>
                        <a:rPr lang="en-US" sz="1400" b="0" dirty="0" err="1">
                          <a:latin typeface="Century Gothic (Body)"/>
                        </a:rPr>
                        <a:t>spatio</a:t>
                      </a:r>
                      <a:r>
                        <a:rPr lang="en-US" sz="1400" b="0" dirty="0">
                          <a:latin typeface="Century Gothic (Body)"/>
                        </a:rPr>
                        <a:t>-temporal data, using Italian COVID-19 data as a case study</a:t>
                      </a:r>
                      <a:endParaRPr lang="en-US" sz="1400" b="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6605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Century Gothic (Body)"/>
                        </a:rPr>
                        <a:t>Improved prediction of dengue outbreak using combinatorial feature selector and classifier... – S. </a:t>
                      </a:r>
                      <a:r>
                        <a:rPr lang="en-US" sz="1400" b="0" dirty="0" err="1">
                          <a:latin typeface="Century Gothic (Body)"/>
                        </a:rPr>
                        <a:t>Appavu</a:t>
                      </a:r>
                      <a:r>
                        <a:rPr lang="en-US" sz="1400" b="0" dirty="0">
                          <a:latin typeface="Century Gothic (Body)"/>
                        </a:rPr>
                        <a:t>.</a:t>
                      </a:r>
                      <a:endParaRPr lang="en-US" sz="1400" b="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dirty="0">
                          <a:latin typeface="Century Gothic (Body)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400" b="0" dirty="0" err="1">
                          <a:latin typeface="Century Gothic (Body)"/>
                        </a:rPr>
                        <a:t>nformatics</a:t>
                      </a:r>
                      <a:r>
                        <a:rPr lang="en-US" sz="1400" b="0" dirty="0">
                          <a:latin typeface="Century Gothic (Body)"/>
                        </a:rPr>
                        <a:t> in Medicine Unlocked, 2020</a:t>
                      </a:r>
                      <a:endParaRPr lang="en-US" sz="1400" b="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dirty="0">
                          <a:latin typeface="Century Gothic (Body)"/>
                        </a:rPr>
                        <a:t>Focused on dengue outbreak prediction using a novel feature selection algorithm (EWSORA) to identify critical attributes from medical lab reports for classifiers like DT and SVM.</a:t>
                      </a:r>
                      <a:endParaRPr lang="en-US" sz="1400" b="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Century Gothic (Body)"/>
                        </a:rPr>
                        <a:t>The approach is specific to dengue and relies on structured medical lab data, which may not be available in real-time for other diseases or in less-developed regions.</a:t>
                      </a:r>
                      <a:endParaRPr lang="en-US" sz="1400" b="0" baseline="0" dirty="0">
                        <a:solidFill>
                          <a:schemeClr val="tx1"/>
                        </a:solidFill>
                        <a:latin typeface="Century Gothic (Body)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552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19B48-860F-73F1-BCE4-431F6271B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0D478E-3C8A-1153-F70B-A99C7F6CF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00387"/>
              </p:ext>
            </p:extLst>
          </p:nvPr>
        </p:nvGraphicFramePr>
        <p:xfrm>
          <a:off x="264858" y="1341451"/>
          <a:ext cx="11688762" cy="521893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67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1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3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2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and Author’s  Name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&amp;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year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0243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entury Gothic (Body)"/>
                        </a:rPr>
                        <a:t>COVID-19 Outbreak Data Analysis and Prediction Modeling Using Data Mining Technique – T. </a:t>
                      </a:r>
                      <a:r>
                        <a:rPr lang="en-US" sz="1400" b="0" dirty="0" err="1">
                          <a:latin typeface="Century Gothic (Body)"/>
                        </a:rPr>
                        <a:t>Mengistie</a:t>
                      </a:r>
                      <a:endParaRPr lang="en-US" sz="1400" b="0" dirty="0">
                        <a:latin typeface="Century Gothic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entury Gothic (Body)"/>
                        </a:rPr>
                        <a:t>IJC, 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entury Gothic (Body)"/>
                        </a:rPr>
                        <a:t>Using data mining techniques to fight and control epidemics: A scoping review – R. Safdari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entury Gothic (Body)"/>
                        </a:rPr>
                        <a:t>The model is purely predictive based on past case counts and does not integrate other influential data types like demographic or environmental factors.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6605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Century Gothic (Body)"/>
                          <a:cs typeface="Times New Roman" panose="02020603050405020304" pitchFamily="18" charset="0"/>
                        </a:rPr>
                        <a:t>Data Mining Techniques for Disease Outbreak Detection – A. Kumar &amp; R. Singh</a:t>
                      </a:r>
                      <a:endParaRPr lang="en-US" sz="1400" b="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entury Gothic (Body)"/>
                        </a:rPr>
                        <a:t>Health and Technology,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entury Gothic (Body)"/>
                        </a:rPr>
                        <a:t>A review of 50 articles on using data mining for pandemics, identifying common techniques (NLP, regression) and data sources (social media).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Century Gothic (Body)"/>
                        </a:rPr>
                        <a:t>The review found that many predictive models have a high risk of bias and overfitting, with a need for more research focused on treatment and control rather than just characterization.</a:t>
                      </a:r>
                      <a:endParaRPr lang="en-US" sz="1400" b="0" baseline="0" dirty="0">
                        <a:solidFill>
                          <a:schemeClr val="tx1"/>
                        </a:solidFill>
                        <a:latin typeface="Century Gothic (Body)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5403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05FAB-96DF-5515-7BA7-05653256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32CAD46-3FCD-BF19-CE4F-83906B729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641447"/>
              </p:ext>
            </p:extLst>
          </p:nvPr>
        </p:nvGraphicFramePr>
        <p:xfrm>
          <a:off x="264858" y="1341451"/>
          <a:ext cx="11688762" cy="521893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67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1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3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2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and Author’s  Name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&amp;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year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0243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A New MSGSA-Optimized Dynamic Window of Spatiotemporal Scan Statistics... – H. Wang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IEEE JSTARS,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Introduced a dynamic spatiotemporal scanning window to detect changes in an outbreak cluster's size over time, using an improved Gravitational Search Algorithm (MSGSA) on HFMD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The method is computationally intensive due to the optimization algorithm and has difficulty with irregularly shaped or moving clusters, focusing only on size changes.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6605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Data Mining as a Technique for Healthcare Approach – E. N. </a:t>
                      </a:r>
                      <a:r>
                        <a:rPr lang="en-US" sz="1400" b="0" dirty="0" err="1"/>
                        <a:t>Ekwonwune</a:t>
                      </a:r>
                      <a:r>
                        <a:rPr lang="en-US" sz="1400" b="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IJCNS,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A review of core data mining techniques (Classification, Clustering, Regression) and their applications in the healthcare domain.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Highlights that many current applications still lack high accuracy, can be time-consuming, and face significant issues with incomplete data and patient privacy.</a:t>
                      </a:r>
                      <a:endParaRPr lang="en-US" sz="1400" b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765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25E5E-54BB-C646-5543-C4AF06112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64D7D4-7CB4-1D3C-95F9-62C38ED62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772284"/>
              </p:ext>
            </p:extLst>
          </p:nvPr>
        </p:nvGraphicFramePr>
        <p:xfrm>
          <a:off x="264858" y="1095272"/>
          <a:ext cx="11662283" cy="521893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40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1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3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2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and Author’s  Name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&amp;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year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0243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Early detection of disease outbreaks and non-outbreaks using... feature-based time series classification... – S. Gao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PLOS Comp. Bio.,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Developed a framework using machine learning (GBM, LRM, SVM) trained on synthetic SIR model data to distinguish between outbreak and non-outbreak scenarios from incidence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Relies heavily on synthetic data for training, which may not capture real-world complexities. The SIR model's assumptions (e.g., homogeneous population) don't hold for large communities.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6605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Artificial intelligence in early warning systems for infectious disease surveillance: a systematic review – I. Villanueva-Miranda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Front. Public Health,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A systematic review of 67 studies on AI in EWS, identifying prevalent use of ML, DL, and NLP on diverse data sources like web, climate, and epidemiological reports.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Major challenges include poor data quality and bias, lack of model transparency (the "black box" problem), system integration difficulties, and critical ethical considerations like privacy and equity.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535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6598F-598A-CA45-E7FD-42231085D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111FB4-911B-000D-9AF7-9DDE1DA4E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330758"/>
              </p:ext>
            </p:extLst>
          </p:nvPr>
        </p:nvGraphicFramePr>
        <p:xfrm>
          <a:off x="264858" y="1341451"/>
          <a:ext cx="11662283" cy="521893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40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1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3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2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and Author’s  Name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&amp;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year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0243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dirty="0">
                          <a:latin typeface="Century Gothic (Body)"/>
                          <a:cs typeface="Times New Roman" panose="02020603050405020304" pitchFamily="18" charset="0"/>
                        </a:rPr>
                        <a:t>DOVE: An Infectious Disease Outbreak Statistics Visualization System – M. Lee </a:t>
                      </a:r>
                      <a:endParaRPr lang="en-US" sz="140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dirty="0">
                          <a:latin typeface="Century Gothic (Body)"/>
                          <a:cs typeface="Times New Roman" panose="02020603050405020304" pitchFamily="18" charset="0"/>
                        </a:rPr>
                        <a:t>IEEE Access, 2018</a:t>
                      </a:r>
                      <a:endParaRPr lang="en-US" sz="140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Century Gothic (Body)"/>
                          <a:cs typeface="Times New Roman" panose="02020603050405020304" pitchFamily="18" charset="0"/>
                        </a:rPr>
                        <a:t>Developed DOVE, a visualization platform using KCDC datasets to analyze outbreaks by district, time, age, and gender. Provided interactive charts for monitoring.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Century Gothic (Body)"/>
                          <a:cs typeface="Times New Roman" panose="02020603050405020304" pitchFamily="18" charset="0"/>
                        </a:rPr>
                        <a:t>Relies on centralized datasets, lacks predictive modeling, scalability challenges</a:t>
                      </a:r>
                      <a:endParaRPr lang="en-US" sz="140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6605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atin typeface="Century Gothic (Body)"/>
                          <a:cs typeface="Times New Roman" panose="02020603050405020304" pitchFamily="18" charset="0"/>
                        </a:rPr>
                        <a:t>Data Mining Techniques for Disease Outbreak Detection – A. Kumar &amp; R. Singh</a:t>
                      </a:r>
                      <a:endParaRPr lang="en-US" sz="1400" b="1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err="1">
                          <a:latin typeface="Century Gothic (Body)"/>
                          <a:cs typeface="Times New Roman" panose="02020603050405020304" pitchFamily="18" charset="0"/>
                        </a:rPr>
                        <a:t>Ijca</a:t>
                      </a:r>
                      <a:r>
                        <a:rPr lang="en-IN" sz="1400" dirty="0">
                          <a:latin typeface="Century Gothic (Body)"/>
                          <a:cs typeface="Times New Roman" panose="02020603050405020304" pitchFamily="18" charset="0"/>
                        </a:rPr>
                        <a:t>: 2019</a:t>
                      </a:r>
                      <a:endParaRPr lang="en-US" sz="1400" dirty="0">
                        <a:latin typeface="Century Gothic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err="1">
                          <a:latin typeface="Century Gothic (Body)"/>
                          <a:cs typeface="Times New Roman" panose="02020603050405020304" pitchFamily="18" charset="0"/>
                        </a:rPr>
                        <a:t>IUsed</a:t>
                      </a:r>
                      <a:r>
                        <a:rPr lang="en-US" sz="1400" dirty="0">
                          <a:latin typeface="Century Gothic (Body)"/>
                          <a:cs typeface="Times New Roman" panose="02020603050405020304" pitchFamily="18" charset="0"/>
                        </a:rPr>
                        <a:t> clustering and classification on hospital data to detect early outbreak signals. Improved accuracy compared to manual </a:t>
                      </a:r>
                      <a:r>
                        <a:rPr lang="en-US" sz="1400" dirty="0" err="1">
                          <a:latin typeface="Century Gothic (Body)"/>
                          <a:cs typeface="Times New Roman" panose="02020603050405020304" pitchFamily="18" charset="0"/>
                        </a:rPr>
                        <a:t>monitoring.ntroduced</a:t>
                      </a:r>
                      <a:r>
                        <a:rPr lang="en-US" sz="1400" dirty="0">
                          <a:latin typeface="Century Gothic (Body)"/>
                          <a:cs typeface="Times New Roman" panose="02020603050405020304" pitchFamily="18" charset="0"/>
                        </a:rPr>
                        <a:t> auxiliary supervision (depth map + </a:t>
                      </a:r>
                      <a:r>
                        <a:rPr lang="en-US" sz="1400" dirty="0" err="1">
                          <a:latin typeface="Century Gothic (Body)"/>
                          <a:cs typeface="Times New Roman" panose="02020603050405020304" pitchFamily="18" charset="0"/>
                        </a:rPr>
                        <a:t>rPPG</a:t>
                      </a:r>
                      <a:r>
                        <a:rPr lang="en-US" sz="1400" dirty="0">
                          <a:latin typeface="Century Gothic (Body)"/>
                          <a:cs typeface="Times New Roman" panose="02020603050405020304" pitchFamily="18" charset="0"/>
                        </a:rPr>
                        <a:t> signals) for robust face anti-spoofing. Demonstrated improved cross-domain performance compared to binary classifiers.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entury Gothic (Body)"/>
                          <a:cs typeface="Times New Roman" panose="02020603050405020304" pitchFamily="18" charset="0"/>
                        </a:rPr>
                        <a:t>Difficulty handling missing/incomplete health records, limited real-time capacity.</a:t>
                      </a:r>
                      <a:endParaRPr lang="en-US" sz="1400" baseline="0" dirty="0">
                        <a:solidFill>
                          <a:schemeClr val="tx1"/>
                        </a:solidFill>
                        <a:latin typeface="Century Gothic (Body)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902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EA98C2-2029-842F-61F0-0E0804C30BF4}"/>
              </a:ext>
            </a:extLst>
          </p:cNvPr>
          <p:cNvSpPr txBox="1"/>
          <p:nvPr/>
        </p:nvSpPr>
        <p:spPr>
          <a:xfrm>
            <a:off x="1119351" y="1503597"/>
            <a:ext cx="926823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Feasibility Analysis</a:t>
            </a:r>
          </a:p>
          <a:p>
            <a:pPr>
              <a:buNone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/>
              <a:t>Technical Feasibility</a:t>
            </a:r>
            <a:r>
              <a:rPr lang="en-US" sz="2400" b="1" dirty="0" smtClean="0"/>
              <a:t>:</a:t>
            </a: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/>
              <a:t>Built </a:t>
            </a:r>
            <a:r>
              <a:rPr lang="en-US" sz="2400" b="1" dirty="0"/>
              <a:t>on efficient, open-source technologies (Python/JS).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/>
              <a:t>Modular </a:t>
            </a:r>
            <a:r>
              <a:rPr lang="en-US" sz="2400" b="1" dirty="0"/>
              <a:t>architecture allows easy scaling</a:t>
            </a:r>
            <a:r>
              <a:rPr lang="en-US" sz="2400" b="1" dirty="0" smtClean="0"/>
              <a:t>.</a:t>
            </a:r>
          </a:p>
          <a:p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/>
              <a:t>Data Feasibility</a:t>
            </a:r>
            <a:r>
              <a:rPr lang="en-US" sz="2400" b="1" dirty="0" smtClean="0"/>
              <a:t>:</a:t>
            </a: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/>
              <a:t>Synthetic </a:t>
            </a:r>
            <a:r>
              <a:rPr lang="en-US" sz="2400" b="1" dirty="0"/>
              <a:t>data generator included for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/>
              <a:t>Schema </a:t>
            </a:r>
            <a:r>
              <a:rPr lang="en-US" sz="2400" b="1" dirty="0"/>
              <a:t>supports standard hospital reporting formats</a:t>
            </a:r>
            <a:r>
              <a:rPr lang="en-US" sz="2400" b="1" dirty="0" smtClean="0"/>
              <a:t>.</a:t>
            </a:r>
          </a:p>
          <a:p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/>
              <a:t>Operational Feasibility: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/>
              <a:t>Low-maintenance </a:t>
            </a:r>
            <a:r>
              <a:rPr lang="en-US" sz="2400" b="1" dirty="0"/>
              <a:t>web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/>
              <a:t>automated </a:t>
            </a:r>
            <a:r>
              <a:rPr lang="en-US" sz="2400" b="1" dirty="0"/>
              <a:t>alerts reduce manual monitoring burden.</a:t>
            </a: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3EFD2-775E-1DF4-8222-2C17D86D6987}"/>
              </a:ext>
            </a:extLst>
          </p:cNvPr>
          <p:cNvSpPr txBox="1"/>
          <p:nvPr/>
        </p:nvSpPr>
        <p:spPr>
          <a:xfrm>
            <a:off x="1792224" y="399200"/>
            <a:ext cx="74663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E6B729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FEASABLITY  &amp; SCOPE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281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61B803-D5B2-A79E-28FE-B67CF53C53D9}"/>
              </a:ext>
            </a:extLst>
          </p:cNvPr>
          <p:cNvSpPr txBox="1"/>
          <p:nvPr/>
        </p:nvSpPr>
        <p:spPr>
          <a:xfrm>
            <a:off x="2034566" y="189190"/>
            <a:ext cx="74904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D3048-0E9C-1712-1DB7-3422B83DBD35}"/>
              </a:ext>
            </a:extLst>
          </p:cNvPr>
          <p:cNvSpPr txBox="1"/>
          <p:nvPr/>
        </p:nvSpPr>
        <p:spPr>
          <a:xfrm>
            <a:off x="635001" y="1378142"/>
            <a:ext cx="1054735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Hardware Requirements</a:t>
            </a:r>
          </a:p>
          <a:p>
            <a:endParaRPr lang="en-US" sz="2800" dirty="0"/>
          </a:p>
          <a:p>
            <a:r>
              <a:rPr lang="en-US" b="1" dirty="0"/>
              <a:t>Development Server:</a:t>
            </a:r>
            <a:endParaRPr lang="en-US" dirty="0"/>
          </a:p>
          <a:p>
            <a:pPr lvl="1"/>
            <a:r>
              <a:rPr lang="en-US" dirty="0"/>
              <a:t>CPU: 8-core Processor (e.g., Intel Xeon / AMD EPYC)</a:t>
            </a:r>
          </a:p>
          <a:p>
            <a:pPr lvl="1"/>
            <a:r>
              <a:rPr lang="en-US" dirty="0"/>
              <a:t>RAM: 32 GB or higher</a:t>
            </a:r>
          </a:p>
          <a:p>
            <a:pPr lvl="1"/>
            <a:r>
              <a:rPr lang="en-US" dirty="0"/>
              <a:t>Storage: 1 TB+ SSD for fast data access and processing.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Production Environment (Cloud-Based Recommended):</a:t>
            </a:r>
            <a:endParaRPr lang="en-US" dirty="0"/>
          </a:p>
          <a:p>
            <a:pPr lvl="1"/>
            <a:r>
              <a:rPr lang="en-US" dirty="0"/>
              <a:t>Scalable compute instances (e.g., AWS EC2, GCP Compute Engine).</a:t>
            </a:r>
          </a:p>
          <a:p>
            <a:pPr lvl="1"/>
            <a:r>
              <a:rPr lang="en-US" dirty="0"/>
              <a:t>Managed database and data warehouse services (e.g., Amazon RDS, Redshift, Google </a:t>
            </a:r>
            <a:r>
              <a:rPr lang="en-US" dirty="0" err="1"/>
              <a:t>BigQuery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Object storage for raw data (e.g., Amazon S3, Google Cloud Storage).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570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E3019E-488F-29BF-2D8B-D168538AD891}"/>
              </a:ext>
            </a:extLst>
          </p:cNvPr>
          <p:cNvSpPr txBox="1"/>
          <p:nvPr/>
        </p:nvSpPr>
        <p:spPr>
          <a:xfrm>
            <a:off x="772512" y="772510"/>
            <a:ext cx="11280058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Software Requirements</a:t>
            </a:r>
          </a:p>
          <a:p>
            <a:pPr>
              <a:buNone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Operating System:</a:t>
            </a:r>
            <a:r>
              <a:rPr lang="en-US" sz="2000" dirty="0"/>
              <a:t> Linux (Ubuntu Server recommended </a:t>
            </a:r>
            <a:r>
              <a:rPr lang="en-US" sz="2000" dirty="0" smtClean="0"/>
              <a:t>for production)Windows/</a:t>
            </a:r>
            <a:r>
              <a:rPr lang="en-US" sz="2000" dirty="0" err="1" smtClean="0"/>
              <a:t>macOS</a:t>
            </a:r>
            <a:r>
              <a:rPr lang="en-US" sz="2000" dirty="0" smtClean="0"/>
              <a:t> for </a:t>
            </a:r>
            <a:r>
              <a:rPr lang="en-US" sz="2000" dirty="0"/>
              <a:t>development.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Frontend (Visualization):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 </a:t>
            </a:r>
            <a:r>
              <a:rPr lang="en-US" sz="2000" dirty="0" smtClean="0"/>
              <a:t>Next.js </a:t>
            </a:r>
            <a:r>
              <a:rPr lang="en-US" sz="2000" dirty="0"/>
              <a:t>(React) with </a:t>
            </a:r>
            <a:r>
              <a:rPr lang="en-US" sz="2000" dirty="0" err="1"/>
              <a:t>TypeScript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err="1" smtClean="0"/>
              <a:t>TailwindCSS</a:t>
            </a:r>
            <a:r>
              <a:rPr lang="en-US" sz="2000" dirty="0" smtClean="0"/>
              <a:t> </a:t>
            </a:r>
            <a:r>
              <a:rPr lang="en-US" sz="2000" dirty="0"/>
              <a:t>for responsive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smtClean="0"/>
              <a:t>Leaflet/</a:t>
            </a:r>
            <a:r>
              <a:rPr lang="en-US" sz="2000" dirty="0" err="1" smtClean="0"/>
              <a:t>Mapbox</a:t>
            </a:r>
            <a:r>
              <a:rPr lang="en-US" sz="2000" dirty="0" smtClean="0"/>
              <a:t> </a:t>
            </a:r>
            <a:r>
              <a:rPr lang="en-US" sz="2000" dirty="0"/>
              <a:t>for geospatial </a:t>
            </a:r>
            <a:r>
              <a:rPr lang="en-US" sz="2000" dirty="0" smtClean="0"/>
              <a:t>data</a:t>
            </a:r>
          </a:p>
          <a:p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Backend (Processing):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smtClean="0"/>
              <a:t>Python </a:t>
            </a:r>
            <a:r>
              <a:rPr lang="en-US" sz="2000" dirty="0" err="1"/>
              <a:t>FastAPI</a:t>
            </a:r>
            <a:r>
              <a:rPr lang="en-US" sz="2000" dirty="0"/>
              <a:t> (High performance API)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smtClean="0"/>
              <a:t>Pandas </a:t>
            </a:r>
            <a:r>
              <a:rPr lang="en-US" sz="2000" dirty="0"/>
              <a:t>&amp; </a:t>
            </a:r>
            <a:r>
              <a:rPr lang="en-US" sz="2000" dirty="0" err="1"/>
              <a:t>Scikit</a:t>
            </a:r>
            <a:r>
              <a:rPr lang="en-US" sz="2000" dirty="0"/>
              <a:t>-learn (Data Analysis</a:t>
            </a:r>
            <a:r>
              <a:rPr lang="en-US" sz="2000" dirty="0" smtClean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Database: SQLite (Prototype) / PostgreSQL (Production)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31257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A115C-A278-6B81-5F61-2DE38EB9D762}"/>
              </a:ext>
            </a:extLst>
          </p:cNvPr>
          <p:cNvSpPr txBox="1"/>
          <p:nvPr/>
        </p:nvSpPr>
        <p:spPr>
          <a:xfrm>
            <a:off x="1174531" y="1726325"/>
            <a:ext cx="973520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3200" dirty="0"/>
          </a:p>
          <a:p>
            <a:pPr>
              <a:buNone/>
            </a:pPr>
            <a:r>
              <a:rPr lang="en-US" sz="2000" dirty="0"/>
              <a:t>Successfully implemented a functional prototype for disease surveillance.</a:t>
            </a:r>
          </a:p>
          <a:p>
            <a:pPr>
              <a:buNone/>
            </a:pPr>
            <a:r>
              <a:rPr lang="en-US" sz="2000" dirty="0"/>
              <a:t>Demonstrates the power of combining modern web stacks with data mining.</a:t>
            </a:r>
          </a:p>
          <a:p>
            <a:pPr>
              <a:buNone/>
            </a:pPr>
            <a:r>
              <a:rPr lang="en-US" sz="2000" dirty="0"/>
              <a:t>Provides actionable insights to healthcare officials.</a:t>
            </a:r>
          </a:p>
          <a:p>
            <a:pPr>
              <a:buNone/>
            </a:pPr>
            <a:r>
              <a:rPr lang="en-US" sz="2000" dirty="0"/>
              <a:t>Scalable foundation for a regional or national health safety net.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71A4F-4A5D-9619-AC07-6B69A2186A06}"/>
              </a:ext>
            </a:extLst>
          </p:cNvPr>
          <p:cNvSpPr txBox="1"/>
          <p:nvPr/>
        </p:nvSpPr>
        <p:spPr>
          <a:xfrm>
            <a:off x="1174531" y="891532"/>
            <a:ext cx="93338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6000" b="1" i="0" u="none" strike="noStrike" kern="1200" cap="none" spc="0" normalizeH="0" baseline="0" noProof="0" dirty="0">
                <a:ln>
                  <a:noFill/>
                </a:ln>
                <a:solidFill>
                  <a:srgbClr val="E6B729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7787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255</TotalTime>
  <Words>1564</Words>
  <Application>Microsoft Office PowerPoint</Application>
  <PresentationFormat>Widescreen</PresentationFormat>
  <Paragraphs>189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Arial Narrow</vt:lpstr>
      <vt:lpstr>Century Gothic</vt:lpstr>
      <vt:lpstr>Century Gothic (Body)</vt:lpstr>
      <vt:lpstr>Lohit Devanagari</vt:lpstr>
      <vt:lpstr>Times New Roman</vt:lpstr>
      <vt:lpstr>WenQuanYi Zen Hei Sharp</vt:lpstr>
      <vt:lpstr>Wingdings</vt:lpstr>
      <vt:lpstr>Wingdings 3</vt:lpstr>
      <vt:lpstr>Ion</vt:lpstr>
      <vt:lpstr>PowerPoint Presentation</vt:lpstr>
      <vt:lpstr>PowerPoint Presentation</vt:lpstr>
      <vt:lpstr>PROBLEM STATEMENT</vt:lpstr>
      <vt:lpstr>  MOTIVATION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Vinit Morankar</dc:creator>
  <cp:lastModifiedBy>mohammad ali</cp:lastModifiedBy>
  <cp:revision>8</cp:revision>
  <dcterms:created xsi:type="dcterms:W3CDTF">2025-08-23T16:17:36Z</dcterms:created>
  <dcterms:modified xsi:type="dcterms:W3CDTF">2026-01-19T08:38:49Z</dcterms:modified>
</cp:coreProperties>
</file>